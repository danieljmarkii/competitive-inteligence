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 (about 90 seconds)</a:t>
            </a:r>
          </a:p>
          <a:p/>
          <a:p>
            <a:r>
              <a:t>1) The 1:1 becomes review evidence.</a:t>
            </a:r>
          </a:p>
          <a:p>
            <a:r>
              <a:t>- Betterworks Conversational Intelligence (GA 2026-09-15): Zoom or uploaded 1:1 transcripts become a shared recap, a private prep brief, and suggested action items and goal updates. https://support.betterworks.com/hc/en-us/articles/48817244144781-Conversational-Intelligence-NextGen</a:t>
            </a:r>
          </a:p>
          <a:p>
            <a:r>
              <a:t>- Leapsome Smart Follow-Ups (2026-09-16): one-tap goals, praise, and requests from meeting transcripts. https://www.leapsome.com/app/#/product-updates</a:t>
            </a:r>
          </a:p>
          <a:p>
            <a:r>
              <a:t>- 15Five AI-Assisted Reviews GA (2026-09-17): drafts grounded in evidence from 15Five and connected tools, including 1-on-1 notes; Amaya now analyzes review open text (2026-09-25). https://success.15five.com/hc/en-us/articles/50989471559067-What-s-new-in-15Five-Product-releases</a:t>
            </a:r>
          </a:p>
          <a:p/>
          <a:p>
            <a:r>
              <a:t>2) Review scoring gets weighted.</a:t>
            </a:r>
          </a:p>
          <a:p>
            <a:r>
              <a:t>- Lattice (2026-09-30): goals and competencies in weighted overall scores, auto-normalized across scales and fed to calibration; opt-in 0.1 rating increments. https://lattice.com/blog/september-2026-product-updates</a:t>
            </a:r>
          </a:p>
          <a:p>
            <a:r>
              <a:t>- Culture Amp (2026-09-29): Goals in Reviews (AI Coach uses goal context) and custom demographics in review cycles. https://updates.cultureamp.com/158621-goals-in-reviews-now-available</a:t>
            </a:r>
          </a:p>
          <a:p/>
          <a:p>
            <a:r>
              <a:t>3) AI closes the survey-to-action loop.</a:t>
            </a:r>
          </a:p>
          <a:p>
            <a:r>
              <a:t>- Leapsome AI-generated survey action plans (2026-09-10), with suggested owners and timelines. https://www.leapsome.com/app/#/product-updates</a:t>
            </a:r>
          </a:p>
          <a:p>
            <a:r>
              <a:t>- Culture Amp AI Follow-Ups (2026-09-08) and Sensitive Comment Management (2026-09-23). https://updates.cultureamp.com/156617-uncover-the-why-behind-your-data-with-ai-follow-ups</a:t>
            </a:r>
          </a:p>
          <a:p>
            <a:r>
              <a:t>- Also: Qualtrics action-plan reminders via email and Teams (2026-09-02); Viva Glint Copilot comment rewrite (end of September; off by default; rewritten comments are not flagged in reports).</a:t>
            </a:r>
          </a:p>
          <a:p/>
          <a:p>
            <a:r>
              <a:t>4) People data opens to outside AI.</a:t>
            </a:r>
          </a:p>
          <a:p>
            <a:r>
              <a:t>- Perceptyx Anywhere (2026-09-29): GA MCP server and APIs bring survey results, nudges, and action plans into Copilot, Claude, ChatGPT, or custom agents under existing confidentiality thresholds; attrition-predicting models are in pilot with design partners. https://blog.perceptyx.com/perceptyx-launches-perceptyx-anywhere</a:t>
            </a:r>
          </a:p>
          <a:p>
            <a:r>
              <a:t>- BambooHR MCP server and Claude connector, including goal tools (beta, 2026-09-14); Lattice MCP in Glean (2026-09-30). Culture Amp launched MCP on 2026-08-24, so Lattice, Culture Amp, and Leapsome all have one now.</a:t>
            </a:r>
          </a:p>
          <a:p/>
          <a:p>
            <a:r>
              <a:t>Also notable (not on the slide)</a:t>
            </a:r>
          </a:p>
          <a:p>
            <a:r>
              <a:t>- Development: Betterworks AI development plans with LMS course recommendations and role matching (2026-09-15); PerformYard's new Talent Development suite with AI coaching, competencies, and comp (2026-09-01).</a:t>
            </a:r>
          </a:p>
          <a:p>
            <a:r>
              <a:t>- Recognition &amp; Rewards: BambooHR added AI-suggested, points-based recognition in Slack (beta, 2026-09-14). An HRIS our customers may already own now does recognition plus rewards.</a:t>
            </a:r>
          </a:p>
          <a:p/>
          <a:p>
            <a:r>
              <a:t>Method: all 21 tracked competitors scanned; 74 verified in-window items (8 High, 21 Medium, 45 Low). Full report with every source: reports/2026-09-CI-Report.md.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482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 spc="120">
                <a:solidFill>
                  <a:srgbClr val="007C7A"/>
                </a:solidFill>
                <a:latin typeface="Calibri"/>
              </a:rPr>
              <a:t>COMPETITIVE LANDSCAPE &amp; UPDATES · SEPTEMBER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748253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2600" b="1" i="0">
                <a:solidFill>
                  <a:srgbClr val="1B2644"/>
                </a:solidFill>
                <a:latin typeface="Calibri"/>
              </a:rPr>
              <a:t>AI moved into the manager's loop: the review, the 1:1, and the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14055" y="502920"/>
            <a:ext cx="1051560" cy="54864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1B2644"/>
                </a:solidFill>
                <a:latin typeface="Calibri"/>
              </a:rPr>
              <a:t>74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14055" y="1078992"/>
            <a:ext cx="1051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6B7486"/>
                </a:solidFill>
                <a:latin typeface="Calibri"/>
              </a:rPr>
              <a:t>verified updates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57055" y="502920"/>
            <a:ext cx="1051560" cy="54864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1B2644"/>
                </a:solidFill>
                <a:latin typeface="Calibr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57055" y="1078992"/>
            <a:ext cx="1051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6B7486"/>
                </a:solidFill>
                <a:latin typeface="Calibri"/>
              </a:rPr>
              <a:t>of 21 competitors shipped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55" y="502920"/>
            <a:ext cx="1051560" cy="54864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1B2644"/>
                </a:solidFill>
                <a:latin typeface="Calibri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00055" y="1078992"/>
            <a:ext cx="1051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6B7486"/>
                </a:solidFill>
                <a:latin typeface="Calibri"/>
              </a:rPr>
              <a:t>MCP launches and upgrades</a:t>
            </a:r>
          </a:p>
        </p:txBody>
      </p:sp>
      <p:sp>
        <p:nvSpPr>
          <p:cNvPr id="10" name="Theme card 1"/>
          <p:cNvSpPr/>
          <p:nvPr/>
        </p:nvSpPr>
        <p:spPr>
          <a:xfrm>
            <a:off x="548640" y="1874519"/>
            <a:ext cx="5455767" cy="1783080"/>
          </a:xfrm>
          <a:prstGeom prst="roundRect">
            <a:avLst>
              <a:gd name="adj" fmla="val 7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808" y="2057400"/>
            <a:ext cx="457200" cy="457200"/>
          </a:xfrm>
          <a:prstGeom prst="ellipse">
            <a:avLst/>
          </a:prstGeom>
          <a:solidFill>
            <a:srgbClr val="1B2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057400"/>
            <a:ext cx="440420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1" i="0">
                <a:solidFill>
                  <a:srgbClr val="1B2644"/>
                </a:solidFill>
                <a:latin typeface="Calibri"/>
              </a:rPr>
              <a:t>The 1:1 becomes review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59736"/>
            <a:ext cx="4404207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98000"/>
              </a:lnSpc>
            </a:pPr>
            <a:r>
              <a:rPr sz="1350" b="0" i="0">
                <a:solidFill>
                  <a:srgbClr val="3A455C"/>
                </a:solidFill>
                <a:latin typeface="Calibri"/>
              </a:rPr>
              <a:t>Betterworks turns Zoom 1:1 transcripts into recaps and goal updates (Sep 15); Leapsome turns them into goals and praise (Sep 16); 15Five's AI-drafted reviews went GA (Sep 17).</a:t>
            </a:r>
          </a:p>
          <a:p>
            <a:pPr>
              <a:lnSpc>
                <a:spcPct val="98000"/>
              </a:lnSpc>
              <a:spcBef>
                <a:spcPts val="700"/>
              </a:spcBef>
            </a:pPr>
            <a:r>
              <a:rPr sz="1350" b="1" i="0">
                <a:solidFill>
                  <a:srgbClr val="007C7A"/>
                </a:solidFill>
                <a:latin typeface="Calibri"/>
              </a:rPr>
              <a:t>So what for QW: </a:t>
            </a:r>
            <a:r>
              <a:rPr sz="1350" b="0" i="0">
                <a:solidFill>
                  <a:srgbClr val="1B2644"/>
                </a:solidFill>
                <a:latin typeface="Calibri"/>
              </a:rPr>
              <a:t>meeting capture now feeds review AI. What feeds Ask AI from our 1-on-1s?</a:t>
            </a:r>
          </a:p>
        </p:txBody>
      </p:sp>
      <p:sp>
        <p:nvSpPr>
          <p:cNvPr id="14" name="Theme card 2"/>
          <p:cNvSpPr/>
          <p:nvPr/>
        </p:nvSpPr>
        <p:spPr>
          <a:xfrm>
            <a:off x="6187287" y="1874519"/>
            <a:ext cx="5455767" cy="1783080"/>
          </a:xfrm>
          <a:prstGeom prst="roundRect">
            <a:avLst>
              <a:gd name="adj" fmla="val 7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88455" y="2057400"/>
            <a:ext cx="457200" cy="457200"/>
          </a:xfrm>
          <a:prstGeom prst="ellipse">
            <a:avLst/>
          </a:prstGeom>
          <a:solidFill>
            <a:srgbClr val="1B2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0247" y="2057400"/>
            <a:ext cx="440420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1" i="0">
                <a:solidFill>
                  <a:srgbClr val="1B2644"/>
                </a:solidFill>
                <a:latin typeface="Calibri"/>
              </a:rPr>
              <a:t>Review scoring gets weighted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0247" y="2459736"/>
            <a:ext cx="4404207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98000"/>
              </a:lnSpc>
            </a:pPr>
            <a:r>
              <a:rPr sz="1350" b="0" i="0">
                <a:solidFill>
                  <a:srgbClr val="3A455C"/>
                </a:solidFill>
                <a:latin typeface="Calibri"/>
              </a:rPr>
              <a:t>Lattice blends ratings, goals, and competencies into one normalized score with half-point scales (Sep 30); Culture Amp pulls goals and custom demographics into reviews (Sep 29).</a:t>
            </a:r>
          </a:p>
          <a:p>
            <a:pPr>
              <a:lnSpc>
                <a:spcPct val="98000"/>
              </a:lnSpc>
              <a:spcBef>
                <a:spcPts val="700"/>
              </a:spcBef>
            </a:pPr>
            <a:r>
              <a:rPr sz="1350" b="1" i="0">
                <a:solidFill>
                  <a:srgbClr val="007C7A"/>
                </a:solidFill>
                <a:latin typeface="Calibri"/>
              </a:rPr>
              <a:t>So what for QW: </a:t>
            </a:r>
            <a:r>
              <a:rPr sz="1350" b="0" i="0">
                <a:solidFill>
                  <a:srgbClr val="1B2644"/>
                </a:solidFill>
                <a:latin typeface="Calibri"/>
              </a:rPr>
              <a:t>weighting and competencies in reviews are table stakes; check decimal-scale parity.</a:t>
            </a:r>
          </a:p>
        </p:txBody>
      </p:sp>
      <p:sp>
        <p:nvSpPr>
          <p:cNvPr id="18" name="Theme card 3"/>
          <p:cNvSpPr/>
          <p:nvPr/>
        </p:nvSpPr>
        <p:spPr>
          <a:xfrm>
            <a:off x="548640" y="3794760"/>
            <a:ext cx="5455767" cy="1783080"/>
          </a:xfrm>
          <a:prstGeom prst="roundRect">
            <a:avLst>
              <a:gd name="adj" fmla="val 7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49808" y="3977640"/>
            <a:ext cx="457200" cy="457200"/>
          </a:xfrm>
          <a:prstGeom prst="ellipse">
            <a:avLst/>
          </a:prstGeom>
          <a:solidFill>
            <a:srgbClr val="1B2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77640"/>
            <a:ext cx="440420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1" i="0">
                <a:solidFill>
                  <a:srgbClr val="1B2644"/>
                </a:solidFill>
                <a:latin typeface="Calibri"/>
              </a:rPr>
              <a:t>AI closes the survey-to-action loop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379976"/>
            <a:ext cx="4404207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98000"/>
              </a:lnSpc>
            </a:pPr>
            <a:r>
              <a:rPr sz="1350" b="0" i="0">
                <a:solidFill>
                  <a:srgbClr val="3A455C"/>
                </a:solidFill>
                <a:latin typeface="Calibri"/>
              </a:rPr>
              <a:t>Leapsome auto-drafts survey action plans (Sep 10); Culture Amp's AI probes answers mid-survey (Sep 8) and flags sensitive comments (Sep 23).</a:t>
            </a:r>
          </a:p>
          <a:p>
            <a:pPr>
              <a:lnSpc>
                <a:spcPct val="98000"/>
              </a:lnSpc>
              <a:spcBef>
                <a:spcPts val="700"/>
              </a:spcBef>
            </a:pPr>
            <a:r>
              <a:rPr sz="1350" b="1" i="0">
                <a:solidFill>
                  <a:srgbClr val="007C7A"/>
                </a:solidFill>
                <a:latin typeface="Calibri"/>
              </a:rPr>
              <a:t>So what for QW: </a:t>
            </a:r>
            <a:r>
              <a:rPr sz="1350" b="0" i="0">
                <a:solidFill>
                  <a:srgbClr val="1B2644"/>
                </a:solidFill>
                <a:latin typeface="Calibri"/>
              </a:rPr>
              <a:t>our AI action planning has a direct match; win on anonymity and follow-through.</a:t>
            </a:r>
          </a:p>
        </p:txBody>
      </p:sp>
      <p:sp>
        <p:nvSpPr>
          <p:cNvPr id="22" name="Theme card 4"/>
          <p:cNvSpPr/>
          <p:nvPr/>
        </p:nvSpPr>
        <p:spPr>
          <a:xfrm>
            <a:off x="6187287" y="3794760"/>
            <a:ext cx="5455767" cy="1783080"/>
          </a:xfrm>
          <a:prstGeom prst="roundRect">
            <a:avLst>
              <a:gd name="adj" fmla="val 7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88455" y="3977640"/>
            <a:ext cx="457200" cy="457200"/>
          </a:xfrm>
          <a:prstGeom prst="ellipse">
            <a:avLst/>
          </a:prstGeom>
          <a:solidFill>
            <a:srgbClr val="1B2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10247" y="3977640"/>
            <a:ext cx="440420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1" i="0">
                <a:solidFill>
                  <a:srgbClr val="1B2644"/>
                </a:solidFill>
                <a:latin typeface="Calibri"/>
              </a:rPr>
              <a:t>People data opens to outside 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0247" y="4379976"/>
            <a:ext cx="4404207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98000"/>
              </a:lnSpc>
            </a:pPr>
            <a:r>
              <a:rPr sz="1350" b="0" i="0">
                <a:solidFill>
                  <a:srgbClr val="3A455C"/>
                </a:solidFill>
                <a:latin typeface="Calibri"/>
              </a:rPr>
              <a:t>Perceptyx put survey data and action plans into Copilot, Claude, and ChatGPT via MCP, with attrition models in pilot (Sep 29); BambooHR and Lattice widened MCP access.</a:t>
            </a:r>
          </a:p>
          <a:p>
            <a:pPr>
              <a:lnSpc>
                <a:spcPct val="98000"/>
              </a:lnSpc>
              <a:spcBef>
                <a:spcPts val="700"/>
              </a:spcBef>
            </a:pPr>
            <a:r>
              <a:rPr sz="1350" b="1" i="0">
                <a:solidFill>
                  <a:srgbClr val="007C7A"/>
                </a:solidFill>
                <a:latin typeface="Calibri"/>
              </a:rPr>
              <a:t>So what for QW: </a:t>
            </a:r>
            <a:r>
              <a:rPr sz="1350" b="0" i="0">
                <a:solidFill>
                  <a:srgbClr val="1B2644"/>
                </a:solidFill>
                <a:latin typeface="Calibri"/>
              </a:rPr>
              <a:t>expect an MCP question in evaluations, and a Retention Radar comparison.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76072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07C7A"/>
                </a:solidFill>
                <a:latin typeface="Calibri"/>
              </a:rPr>
              <a:t>Watch next: </a:t>
            </a:r>
            <a:r>
              <a:rPr sz="1300" b="0" i="0">
                <a:solidFill>
                  <a:srgbClr val="3A455C"/>
                </a:solidFill>
                <a:latin typeface="Calibri"/>
              </a:rPr>
              <a:t>15Five's MCP and 1:1 Meeting Assistant (Oct 8), Workday Rising agents (Oct 13), Lattice Meetings and AI calibration (fall roadmap).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217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6B7486"/>
                </a:solidFill>
                <a:latin typeface="Calibri"/>
              </a:rPr>
              <a:t>Source: QW CI report for 2026-09-01 to 2026-09-30 (reports/2026-09-CI-Report.md). Vendor release notes, help centers, and press; every item dated and linked there.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Competitive landscape &amp; updates · September 2026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